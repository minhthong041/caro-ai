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897dbbab924ada" /><Relationship Type="http://schemas.openxmlformats.org/officeDocument/2006/relationships/extended-properties" Target="/docProps/app.xml" Id="R093bec5d168141bd" /><Relationship Type="http://schemas.openxmlformats.org/officeDocument/2006/relationships/officeDocument" Target="/ppt/presentation.xml" Id="Ra97b248ed0a6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dc1161cfa644d2"/>
  </p:sldMasterIdLst>
  <p:notesMasterIdLst>
    <p:notesMasterId xmlns:r="http://schemas.openxmlformats.org/officeDocument/2006/relationships" r:id="R6cb4fee7b79b40a2"/>
  </p:notesMasterIdLst>
  <p:sldIdLst>
    <p:sldId xmlns:r="http://schemas.openxmlformats.org/officeDocument/2006/relationships" id="256" r:id="R5668e64fe1c54278"/>
    <p:sldId xmlns:r="http://schemas.openxmlformats.org/officeDocument/2006/relationships" id="257" r:id="R4219588f747c4101"/>
    <p:sldId xmlns:r="http://schemas.openxmlformats.org/officeDocument/2006/relationships" id="258" r:id="R89fb7dab0cd64c91"/>
    <p:sldId xmlns:r="http://schemas.openxmlformats.org/officeDocument/2006/relationships" id="259" r:id="R8242d53c08144d7a"/>
    <p:sldId xmlns:r="http://schemas.openxmlformats.org/officeDocument/2006/relationships" id="260" r:id="R89c7bd0f468749a3"/>
    <p:sldId xmlns:r="http://schemas.openxmlformats.org/officeDocument/2006/relationships" id="261" r:id="R8b2c2ed37bf847d6"/>
    <p:sldId xmlns:r="http://schemas.openxmlformats.org/officeDocument/2006/relationships" id="262" r:id="R13afab4c5157494e"/>
    <p:sldId xmlns:r="http://schemas.openxmlformats.org/officeDocument/2006/relationships" id="263" r:id="R6b836e449d6545a6"/>
    <p:sldId xmlns:r="http://schemas.openxmlformats.org/officeDocument/2006/relationships" id="264" r:id="R5cccda92126d4406"/>
    <p:sldId xmlns:r="http://schemas.openxmlformats.org/officeDocument/2006/relationships" id="265" r:id="Re66ee44ab60c4537"/>
    <p:sldId xmlns:r="http://schemas.openxmlformats.org/officeDocument/2006/relationships" id="266" r:id="R000a13fcae194b43"/>
    <p:sldId xmlns:r="http://schemas.openxmlformats.org/officeDocument/2006/relationships" id="267" r:id="Re259b25104e14026"/>
    <p:sldId xmlns:r="http://schemas.openxmlformats.org/officeDocument/2006/relationships" id="268" r:id="R66dc306a1e8f4d4a"/>
    <p:sldId xmlns:r="http://schemas.openxmlformats.org/officeDocument/2006/relationships" id="269" r:id="R410a072eda224690"/>
    <p:sldId xmlns:r="http://schemas.openxmlformats.org/officeDocument/2006/relationships" id="270" r:id="Re344d35fa90946be"/>
    <p:sldId xmlns:r="http://schemas.openxmlformats.org/officeDocument/2006/relationships" id="271" r:id="R2507e3f81eeb4599"/>
    <p:sldId xmlns:r="http://schemas.openxmlformats.org/officeDocument/2006/relationships" id="272" r:id="R06d0399847da46fe"/>
    <p:sldId xmlns:r="http://schemas.openxmlformats.org/officeDocument/2006/relationships" id="273" r:id="R7a8ae9c9ed9f4a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f09e30365e4a8e" /><Relationship Type="http://schemas.openxmlformats.org/officeDocument/2006/relationships/slideMaster" Target="/ppt/slideMasters/slideMaster1.xml" Id="Rbedc1161cfa644d2" /><Relationship Type="http://schemas.openxmlformats.org/officeDocument/2006/relationships/notesMaster" Target="/ppt/notesMasters/notesMaster1.xml" Id="R6cb4fee7b79b40a2" /><Relationship Type="http://schemas.openxmlformats.org/officeDocument/2006/relationships/presProps" Target="/ppt/presProps.xml" Id="R841b79cc1ab148d0" /><Relationship Type="http://schemas.openxmlformats.org/officeDocument/2006/relationships/tableStyles" Target="/ppt/tableStyles.xml" Id="R0e8e86bbc1404edf" /><Relationship Type="http://schemas.openxmlformats.org/officeDocument/2006/relationships/slide" Target="/ppt/slides/slide1.xml" Id="R5668e64fe1c54278" /><Relationship Type="http://schemas.openxmlformats.org/officeDocument/2006/relationships/slide" Target="/ppt/slides/slide2.xml" Id="R4219588f747c4101" /><Relationship Type="http://schemas.openxmlformats.org/officeDocument/2006/relationships/slide" Target="/ppt/slides/slide3.xml" Id="R89fb7dab0cd64c91" /><Relationship Type="http://schemas.openxmlformats.org/officeDocument/2006/relationships/slide" Target="/ppt/slides/slide4.xml" Id="R8242d53c08144d7a" /><Relationship Type="http://schemas.openxmlformats.org/officeDocument/2006/relationships/slide" Target="/ppt/slides/slide5.xml" Id="R89c7bd0f468749a3" /><Relationship Type="http://schemas.openxmlformats.org/officeDocument/2006/relationships/slide" Target="/ppt/slides/slide6.xml" Id="R8b2c2ed37bf847d6" /><Relationship Type="http://schemas.openxmlformats.org/officeDocument/2006/relationships/slide" Target="/ppt/slides/slide7.xml" Id="R13afab4c5157494e" /><Relationship Type="http://schemas.openxmlformats.org/officeDocument/2006/relationships/slide" Target="/ppt/slides/slide8.xml" Id="R6b836e449d6545a6" /><Relationship Type="http://schemas.openxmlformats.org/officeDocument/2006/relationships/slide" Target="/ppt/slides/slide9.xml" Id="R5cccda92126d4406" /><Relationship Type="http://schemas.openxmlformats.org/officeDocument/2006/relationships/slide" Target="/ppt/slides/slide10.xml" Id="Re66ee44ab60c4537" /><Relationship Type="http://schemas.openxmlformats.org/officeDocument/2006/relationships/slide" Target="/ppt/slides/slide11.xml" Id="R000a13fcae194b43" /><Relationship Type="http://schemas.openxmlformats.org/officeDocument/2006/relationships/slide" Target="/ppt/slides/slide12.xml" Id="Re259b25104e14026" /><Relationship Type="http://schemas.openxmlformats.org/officeDocument/2006/relationships/slide" Target="/ppt/slides/slide13.xml" Id="R66dc306a1e8f4d4a" /><Relationship Type="http://schemas.openxmlformats.org/officeDocument/2006/relationships/slide" Target="/ppt/slides/slide14.xml" Id="R410a072eda224690" /><Relationship Type="http://schemas.openxmlformats.org/officeDocument/2006/relationships/slide" Target="/ppt/slides/slide15.xml" Id="Re344d35fa90946be" /><Relationship Type="http://schemas.openxmlformats.org/officeDocument/2006/relationships/slide" Target="/ppt/slides/slide16.xml" Id="R2507e3f81eeb4599" /><Relationship Type="http://schemas.openxmlformats.org/officeDocument/2006/relationships/slide" Target="/ppt/slides/slide17.xml" Id="R06d0399847da46fe" /><Relationship Type="http://schemas.openxmlformats.org/officeDocument/2006/relationships/slide" Target="/ppt/slides/slide18.xml" Id="R7a8ae9c9ed9f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8ba00b432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cac45509144f1" /><Relationship Type="http://schemas.openxmlformats.org/officeDocument/2006/relationships/notesMaster" Target="/ppt/notesMasters/notesMaster1.xml" Id="R85c2d676e9544f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449170af442ac" /><Relationship Type="http://schemas.openxmlformats.org/officeDocument/2006/relationships/notesMaster" Target="/ppt/notesMasters/notesMaster1.xml" Id="Ra13acb3d4b80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1c40ed5ef24c75" /><Relationship Type="http://schemas.openxmlformats.org/officeDocument/2006/relationships/notesMaster" Target="/ppt/notesMasters/notesMaster1.xml" Id="R0214b9461ad942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2b632e63d42bd" /><Relationship Type="http://schemas.openxmlformats.org/officeDocument/2006/relationships/notesMaster" Target="/ppt/notesMasters/notesMaster1.xml" Id="Rf46d4723d85449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f28d99c09b4f4d" /><Relationship Type="http://schemas.openxmlformats.org/officeDocument/2006/relationships/notesMaster" Target="/ppt/notesMasters/notesMaster1.xml" Id="Rb553939016b6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523f1df8754c79" /><Relationship Type="http://schemas.openxmlformats.org/officeDocument/2006/relationships/notesMaster" Target="/ppt/notesMasters/notesMaster1.xml" Id="Rc1f61ebb3191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c07ec08aa4583" /><Relationship Type="http://schemas.openxmlformats.org/officeDocument/2006/relationships/notesMaster" Target="/ppt/notesMasters/notesMaster1.xml" Id="R4d5457aa775448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ddfdb8ef75426a" /><Relationship Type="http://schemas.openxmlformats.org/officeDocument/2006/relationships/notesMaster" Target="/ppt/notesMasters/notesMaster1.xml" Id="Rf444a7eb975348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01b919d9f489e" /><Relationship Type="http://schemas.openxmlformats.org/officeDocument/2006/relationships/notesMaster" Target="/ppt/notesMasters/notesMaster1.xml" Id="R85c4eb2414af4b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65301a76cc44d7" /><Relationship Type="http://schemas.openxmlformats.org/officeDocument/2006/relationships/notesMaster" Target="/ppt/notesMasters/notesMaster1.xml" Id="R13bc3c9d83c945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08d398063149df" /><Relationship Type="http://schemas.openxmlformats.org/officeDocument/2006/relationships/notesMaster" Target="/ppt/notesMasters/notesMaster1.xml" Id="R6c35e93a202743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7f07ec2dad44ae" /><Relationship Type="http://schemas.openxmlformats.org/officeDocument/2006/relationships/notesMaster" Target="/ppt/notesMasters/notesMaster1.xml" Id="R9a51c97469a34d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b3412b5ea0482e" /><Relationship Type="http://schemas.openxmlformats.org/officeDocument/2006/relationships/notesMaster" Target="/ppt/notesMasters/notesMaster1.xml" Id="Rd78a0821c2e64d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e928df91ed4b85" /><Relationship Type="http://schemas.openxmlformats.org/officeDocument/2006/relationships/notesMaster" Target="/ppt/notesMasters/notesMaster1.xml" Id="Rd137ff0c04e54e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14972e119c4713" /><Relationship Type="http://schemas.openxmlformats.org/officeDocument/2006/relationships/notesMaster" Target="/ppt/notesMasters/notesMaster1.xml" Id="Rfa4ca4f602bf45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3805482cb74888" /><Relationship Type="http://schemas.openxmlformats.org/officeDocument/2006/relationships/notesMaster" Target="/ppt/notesMasters/notesMaster1.xml" Id="R13a65061563846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44a787215d4951" /><Relationship Type="http://schemas.openxmlformats.org/officeDocument/2006/relationships/notesMaster" Target="/ppt/notesMasters/notesMaster1.xml" Id="Ra15dad3ace9344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de6b62ad6c48a2" /><Relationship Type="http://schemas.openxmlformats.org/officeDocument/2006/relationships/notesMaster" Target="/ppt/notesMasters/notesMaster1.xml" Id="Rff39d6493034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giới thiệu đây là dự án Caro 15x15 cho học phần Nhập môn Trí tuệ nhân tạo.</a:t>
            </a:r>
          </a:p>
          <a:p xmlns:a="http://schemas.openxmlformats.org/drawingml/2006/main">
            <a:r>
              <a:t>Trong bài trình bày, nhóm tập trung vào hai hướng AI: Minimax cho tìm kiếm đối kháng và CNN supervised learning cho học từ dữ liệu ván đấu.</a:t>
            </a:r>
          </a:p>
          <a:p xmlns:a="http://schemas.openxmlformats.org/drawingml/2006/main">
            <a:r>
              <a:t>Nhắc nhanh rằng sản phẩm có giao diện Pygame, có logging dữ liệu, có pipeline train và có kiểm thử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thống nhất thứ tự thuyết trình liền mạch theo từng người, tránh việc đổi người qua lại nhiều lần.</a:t>
            </a:r>
          </a:p>
          <a:p xmlns:a="http://schemas.openxmlformats.org/drawingml/2006/main">
            <a:r>
              <a:t>Thông mở đầu và trình bày toàn bộ nền tảng AI: bài toán, Minimax, CNN, pipeline và kiểm thử.</a:t>
            </a:r>
          </a:p>
          <a:p xmlns:a="http://schemas.openxmlformats.org/drawingml/2006/main">
            <a:r>
              <a:t>Lưu tiếp nối bằng phần hệ thống: kiến trúc build, tích hợp AI, kết quả train và cách chạy/demo.</a:t>
            </a:r>
          </a:p>
          <a:p xmlns:a="http://schemas.openxmlformats.org/drawingml/2006/main">
            <a:r>
              <a:t>Nhật trình bày giao diện, logging dữ liệu, sau đó kết luận và nêu hướng phát triển.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giải thích Caro là môi trường đối kháng hai người chơi, thông tin hoàn hảo, tổng bằng không.</a:t>
            </a:r>
          </a:p>
          <a:p xmlns:a="http://schemas.openxmlformats.org/drawingml/2006/main">
            <a:r>
              <a:t>Trạng thái là toàn bộ ma trận 15x15, hành động là chọn một ô trống, transition là đặt quân và đổi lượt.</a:t>
            </a:r>
          </a:p>
          <a:p xmlns:a="http://schemas.openxmlformats.org/drawingml/2006/main">
            <a:r>
              <a:t>Mục tiêu AI không chỉ là thắng ngay mà phải đánh giá lợi thế nhiều nước đi trước.</a:t>
            </a:r>
          </a:p>
          <a:p xmlns:a="http://schemas.openxmlformats.org/drawingml/2006/main">
            <a:r>
              <a:t>Từ đây dẫn vào hai cách tiếp cận: tìm kiếm Minimax và học chính sách di chuyển bằng CNN.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trình bày phạm vi: dự án không chỉ vẽ giao diện mà phải có tác nhân AI có thể chơi và được đánh giá.</a:t>
            </a:r>
          </a:p>
          <a:p xmlns:a="http://schemas.openxmlformats.org/drawingml/2006/main">
            <a:r>
              <a:t>Luật thắng của code là từ 5 quân liên tiếp trở lên, kiểm tra theo 4 hướng.</a:t>
            </a:r>
          </a:p>
          <a:p xmlns:a="http://schemas.openxmlformats.org/drawingml/2006/main">
            <a:r>
              <a:t>Ba chế độ chơi tạo ra cả sản phẩm và dữ liệu: Minimax, PvP collect data, và CNN đã train.</a:t>
            </a:r>
          </a:p>
          <a:p xmlns:a="http://schemas.openxmlformats.org/drawingml/2006/main">
            <a:r>
              <a:t>Nhấn mạnh việc logging là cầu nối giữa game và phần machine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trình bày Minimax: AI giả định đối thủ cũng chơi tối ưu.</a:t>
            </a:r>
          </a:p>
          <a:p xmlns:a="http://schemas.openxmlformats.org/drawingml/2006/main">
            <a:r>
              <a:t>Tầng MAX chọn điểm lớn nhất cho AI, tầng MIN chọn điểm nhỏ nhất vì đối thủ muốn làm AI bất lợi.</a:t>
            </a:r>
          </a:p>
          <a:p xmlns:a="http://schemas.openxmlformats.org/drawingml/2006/main">
            <a:r>
              <a:t>Độ sâu tìm kiếm là số ply nhìn trước; trong dự án depth mặc định là 3.</a:t>
            </a:r>
          </a:p>
          <a:p xmlns:a="http://schemas.openxmlformats.org/drawingml/2006/main">
            <a:r>
              <a:t>Alpha-Beta không đổi kết quả Minimax lý tưởng, nhưng bỏ qua các nhánh không thể cải thiện đáp 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liên hệ lý thuyết với code cụ thể trong ai/minimax.py.</a:t>
            </a:r>
          </a:p>
          <a:p xmlns:a="http://schemas.openxmlformats.org/drawingml/2006/main">
            <a:r>
              <a:t>AI không duyệt cả 225 ô trống mỗi node, mà chỉ sinh ứng viên quanh các quân đã có.</a:t>
            </a:r>
          </a:p>
          <a:p xmlns:a="http://schemas.openxmlformats.org/drawingml/2006/main">
            <a:r>
              <a:t>Iterative deepening cho phép tìm depth 1, 2, 3 và dừng mềm nếu hết time budget.</a:t>
            </a:r>
          </a:p>
          <a:p xmlns:a="http://schemas.openxmlformats.org/drawingml/2006/main">
            <a:r>
              <a:t>Game còn có quick_check_ai depth 1 để bắt ngay nước thắng hoặc nước phải chặn trước khi gọi AI chính.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giải thích vì sao Minimax cần heuristic: không thể duyệt đến hết ván cờ.</a:t>
            </a:r>
          </a:p>
          <a:p xmlns:a="http://schemas.openxmlformats.org/drawingml/2006/main">
            <a:r>
              <a:t>EvaluateBoard quy đổi mẫu hình chiến thuật thành điểm: open four, blocked four, open three, broken three và double threat.</a:t>
            </a:r>
          </a:p>
          <a:p xmlns:a="http://schemas.openxmlformats.org/drawingml/2006/main">
            <a:r>
              <a:t>Điểm của AI được cộng, điểm của người chơi bị trừ mạnh hơn để AI ưu tiên phòng thủ.</a:t>
            </a:r>
          </a:p>
          <a:p xmlns:a="http://schemas.openxmlformats.org/drawingml/2006/main">
            <a:r>
              <a:t>Đây là phần gắn kiến thức AI với đặc thù Caro.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trình bày hai tối ưu giúp Minimax thực tế hơn trên bàn 15x15.</a:t>
            </a:r>
          </a:p>
          <a:p xmlns:a="http://schemas.openxmlformats.org/drawingml/2006/main">
            <a:r>
              <a:t>Zobrist hashing biến bàn cờ thành khóa 64-bit có thể cập nhật bằng XOR khi đặt/xóa quân, phù hợp với search tree.</a:t>
            </a:r>
          </a:p>
          <a:p xmlns:a="http://schemas.openxmlformats.org/drawingml/2006/main">
            <a:r>
              <a:t>Transposition table giúp không tính lại trạng thái đã gặp.</a:t>
            </a:r>
          </a:p>
          <a:p xmlns:a="http://schemas.openxmlformats.org/drawingml/2006/main">
            <a:r>
              <a:t>Quiescence search không dừng ngay ở depth 0 nếu thế cờ đang có đe dọa mạnh.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giải thích CNN supervised learning theo ngôn ngữ Intro AI.</a:t>
            </a:r>
          </a:p>
          <a:p xmlns:a="http://schemas.openxmlformats.org/drawingml/2006/main">
            <a:r>
              <a:t>CNN nhận trạng thái bàn cờ và dự đoán phân phối xác suất trên 225 hành động.</a:t>
            </a:r>
          </a:p>
          <a:p xmlns:a="http://schemas.openxmlformats.org/drawingml/2006/main">
            <a:r>
              <a:t>Nhãn huấn luyện là nước đi thật trong log của bên thắng.</a:t>
            </a:r>
          </a:p>
          <a:p xmlns:a="http://schemas.openxmlformats.org/drawingml/2006/main">
            <a:r>
              <a:t>Loss sparse categorical cross-entropy phạt model khi xác suất cho nước đúng thấp.</a:t>
            </a:r>
          </a:p>
          <a:p xmlns:a="http://schemas.openxmlformats.org/drawingml/2006/main">
            <a:r>
              <a:t>Top-3 accuracy được theo dõi vì trong Caro nhiều nước có chất lượng gần nhau.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mô tả model trong SupervisedAI.build_cnn_model.</a:t>
            </a:r>
          </a:p>
          <a:p xmlns:a="http://schemas.openxmlformats.org/drawingml/2006/main">
            <a:r>
              <a:t>Input 3 kênh giúp model không hiểu nhầm mã quân 2 là giá trị lớn hơn mã quân 1.</a:t>
            </a:r>
          </a:p>
          <a:p xmlns:a="http://schemas.openxmlformats.org/drawingml/2006/main">
            <a:r>
              <a:t>Residual block có skip connection giúp huấn luyện sâu hơn và ổn định hơn so với CNN tuyến tính quá nông.</a:t>
            </a:r>
          </a:p>
          <a:p xmlns:a="http://schemas.openxmlformats.org/drawingml/2006/main">
            <a:r>
              <a:t>Output softmax 225 giá trị, sau đó inference chỉ chọn trong các ô hợp lệ còn trống.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trình bày pipeline training như phần nối giữa lý thuyết CNN và dữ liệu thật của dự án.</a:t>
            </a:r>
          </a:p>
          <a:p xmlns:a="http://schemas.openxmlformats.org/drawingml/2006/main">
            <a:r>
              <a:t>Nhấn mạnh các bước: đọc log JSON, lọc nước của bên thắng, chuẩn hóa theo góc nhìn người chơi, augment 8 đối xứng, chia train/validation và dùng callbacks.</a:t>
            </a:r>
          </a:p>
          <a:p xmlns:a="http://schemas.openxmlformats.org/drawingml/2006/main">
            <a:r>
              <a:t>Sau slide này, Thông còn một slide kiểm thử để khép lại toàn bộ phần AI trước khi chuyển sang Lưu.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kết thúc phần của mình bằng bằng chứng kiểm thử: 41 test đều pass.</a:t>
            </a:r>
          </a:p>
          <a:p xmlns:a="http://schemas.openxmlformats.org/drawingml/2006/main">
            <a:r>
              <a:t>Giải thích rằng test không chỉ kiểm tra luật bàn cờ mà còn kiểm tra Minimax, controller, benchmark và validation dữ liệu CNN.</a:t>
            </a:r>
          </a:p>
          <a:p xmlns:a="http://schemas.openxmlformats.org/drawingml/2006/main">
            <a:r>
              <a:t>Chuyển đoạn: sau khi phần AI đã rõ, Lưu sẽ trình bày hệ thống được build và tích hợp các AI này vào game như thế nào.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Lưu bắt đầu phần của mình bằng kiến trúc build của dự án.</a:t>
            </a:r>
          </a:p>
          <a:p xmlns:a="http://schemas.openxmlformats.org/drawingml/2006/main">
            <a:r>
              <a:t>Giải thích các module chính: UI, GameController, Board, AI agents và thư mục data.</a:t>
            </a:r>
          </a:p>
          <a:p xmlns:a="http://schemas.openxmlformats.org/drawingml/2006/main">
            <a:r>
              <a:t>Nhấn mạnh GameController là nơi nối Pygame với Minimax/CNN, còn các module AI có thể test riêng không cần mở giao diện.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Lưu giải thích cách AI được gắn vào game thật.</a:t>
            </a:r>
          </a:p>
          <a:p xmlns:a="http://schemas.openxmlformats.org/drawingml/2006/main">
            <a:r>
              <a:t>Mode Minimax gọi MinimaxAI depth 3, mode CNN lazy-load model khi người chơi chọn VS TRAINED CNN.</a:t>
            </a:r>
          </a:p>
          <a:p xmlns:a="http://schemas.openxmlformats.org/drawingml/2006/main">
            <a:r>
              <a:t>Thread nền bảo vệ UI: trong lúc AI tính, Pygame vẫn render và hiện thông báo AI is thinking.</a:t>
            </a:r>
          </a:p>
          <a:p xmlns:a="http://schemas.openxmlformats.org/drawingml/2006/main">
            <a:r>
              <a:t>Trước khi gọi AI chính, quick_check_ai depth 1 kiểm tra nước thắng/chặn bắt buộc.</a:t>
            </a:r>
          </a:p>
          <a:p xmlns:a="http://schemas.openxmlformats.org/drawingml/2006/main">
            <a:r>
              <a:t>Nếu CNN trả về nước sai hoặc lỗi, game có fallback hợp lệ để tránh crash.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Lưu trình bày đây là kết quả train gần nhất trên dữ liệu local hiện có.</a:t>
            </a:r>
          </a:p>
          <a:p xmlns:a="http://schemas.openxmlformats.org/drawingml/2006/main">
            <a:r>
              <a:t>408 log đều dùng được, sinh 58288 sample sau augmentation; trong đó 47208 train và 11080 validation.</a:t>
            </a:r>
          </a:p>
          <a:p xmlns:a="http://schemas.openxmlformats.org/drawingml/2006/main">
            <a:r>
              <a:t>Training đặt tối đa 30 epoch nhưng dừng ở epoch 9 vì EarlyStopping: val_loss không cải thiện sau 4 epoch.</a:t>
            </a:r>
          </a:p>
          <a:p xmlns:a="http://schemas.openxmlformats.org/drawingml/2006/main">
            <a:r>
              <a:t>Best checkpoint nằm ở epoch 5 với val_loss 2.1357, val_accuracy khoảng 43.9% và val_top3 khoảng 66.5%.</a:t>
            </a:r>
          </a:p>
          <a:p xmlns:a="http://schemas.openxmlformats.org/drawingml/2006/main">
            <a:r>
              <a:t>Lưu ý: còn 3 log mới trong human_logs có thể dùng để fine-tune tiếp.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Lưu kết thúc phần hệ thống bằng các lệnh build, train, test và demo.</a:t>
            </a:r>
          </a:p>
          <a:p xmlns:a="http://schemas.openxmlformats.org/drawingml/2006/main">
            <a:r>
              <a:t>Nói rõ train CNN cần log hợp lệ trong data/human_logs; sau khi train, log được archive để tránh học lặp.</a:t>
            </a:r>
          </a:p>
          <a:p xmlns:a="http://schemas.openxmlformats.org/drawingml/2006/main">
            <a:r>
              <a:t>Chuyển đoạn: sau phần hệ thống và training, Nhật sẽ trình bày giao diện thực tế và dữ liệu logging mà người chơi tạo 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Nhật bắt đầu phần của mình bằng giao diện Pygame và logging dữ liệu.</a:t>
            </a:r>
          </a:p>
          <a:p xmlns:a="http://schemas.openxmlformats.org/drawingml/2006/main">
            <a:r>
              <a:t>Chỉ vào screenshot menu có các nút VS MINIMAX, VS TRAINED CNN, PvP TRAINING; screenshot gameplay có board và các nút REPLAY, MENU, BACK.</a:t>
            </a:r>
          </a:p>
          <a:p xmlns:a="http://schemas.openxmlformats.org/drawingml/2006/main">
            <a:r>
              <a:t>Giải thích mỗi ván chơi tạo log JSON gồm winner, mode và history; đây là nguồn dữ liệu trực tiếp cho supervised.py.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Nhật kết luận thay mặt nhóm: dự án đã có game chạy được, AI tìm kiếm Minimax, CNN supervised learning, pipeline train, model và kiểm thử.</a:t>
            </a:r>
          </a:p>
          <a:p xmlns:a="http://schemas.openxmlformats.org/drawingml/2006/main">
            <a:r>
              <a:t>Nêu hạn chế chính: CNN vẫn cần thêm dữ liệu và benchmark dài hạn để mạnh hơn.</a:t>
            </a:r>
          </a:p>
          <a:p xmlns:a="http://schemas.openxmlformats.org/drawingml/2006/main">
            <a:r>
              <a:t>Chốt lại thông điệp: Minimax thể hiện suy luận đối kháng rõ ràng, CNN mở ra hướng học từ dữ liệu khi log tăng lên.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29405bf2a42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8a127674494fba" /><Relationship Type="http://schemas.openxmlformats.org/officeDocument/2006/relationships/slideLayout" Target="/ppt/slideLayouts/slideLayout1.xml" Id="R31c00b81198d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00b81198d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403a56b1140c8" /><Relationship Type="http://schemas.openxmlformats.org/officeDocument/2006/relationships/image" Target="/ppt/media/image.png" Id="Rdb486d6404684f71" /><Relationship Type="http://schemas.openxmlformats.org/officeDocument/2006/relationships/notesSlide" Target="/ppt/notesSlides/notesSlide1.xml" Id="Ra5126e288a06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c089117b54109" /><Relationship Type="http://schemas.openxmlformats.org/officeDocument/2006/relationships/notesSlide" Target="/ppt/notesSlides/notesSlide2.xml" Id="R649ee9415728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31e7cb48438a" /><Relationship Type="http://schemas.openxmlformats.org/officeDocument/2006/relationships/notesSlide" Target="/ppt/notesSlides/notesSlide3.xml" Id="R149db772f7384e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9352eb77842fa" /><Relationship Type="http://schemas.openxmlformats.org/officeDocument/2006/relationships/notesSlide" Target="/ppt/notesSlides/notesSlide4.xml" Id="Rbb15be9a11ef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84d3274754f40" /><Relationship Type="http://schemas.openxmlformats.org/officeDocument/2006/relationships/notesSlide" Target="/ppt/notesSlides/notesSlide5.xml" Id="R4a49e9446bf741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00b8eb0ba4dac" /><Relationship Type="http://schemas.openxmlformats.org/officeDocument/2006/relationships/notesSlide" Target="/ppt/notesSlides/notesSlide6.xml" Id="R47428c05778043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8cf884e754e5d" /><Relationship Type="http://schemas.openxmlformats.org/officeDocument/2006/relationships/notesSlide" Target="/ppt/notesSlides/notesSlide7.xml" Id="Rf7368ba1275f43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9bd4006d2462b" /><Relationship Type="http://schemas.openxmlformats.org/officeDocument/2006/relationships/notesSlide" Target="/ppt/notesSlides/notesSlide8.xml" Id="R5390f3e252af4b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3d5332da642db" /><Relationship Type="http://schemas.openxmlformats.org/officeDocument/2006/relationships/notesSlide" Target="/ppt/notesSlides/notesSlide9.xml" Id="Rdd08b7e10c55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f555d051a49e9" /><Relationship Type="http://schemas.openxmlformats.org/officeDocument/2006/relationships/notesSlide" Target="/ppt/notesSlides/notesSlide10.xml" Id="Rca12b16a14b54c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d3194836140f8" /><Relationship Type="http://schemas.openxmlformats.org/officeDocument/2006/relationships/notesSlide" Target="/ppt/notesSlides/notesSlide11.xml" Id="R29ddd4fbcb3f41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39c9347c34327" /><Relationship Type="http://schemas.openxmlformats.org/officeDocument/2006/relationships/notesSlide" Target="/ppt/notesSlides/notesSlide12.xml" Id="R0abfc5abd81b4e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76296ebba47a9" /><Relationship Type="http://schemas.openxmlformats.org/officeDocument/2006/relationships/notesSlide" Target="/ppt/notesSlides/notesSlide13.xml" Id="R2522d1d52d6044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5d3a83c014146" /><Relationship Type="http://schemas.openxmlformats.org/officeDocument/2006/relationships/notesSlide" Target="/ppt/notesSlides/notesSlide14.xml" Id="Ra8e911ac017447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d40863a034d74" /><Relationship Type="http://schemas.openxmlformats.org/officeDocument/2006/relationships/image" Target="/ppt/media/image2.png" Id="R93119db27b3a4a37" /><Relationship Type="http://schemas.openxmlformats.org/officeDocument/2006/relationships/notesSlide" Target="/ppt/notesSlides/notesSlide15.xml" Id="R06fa9e595f1e43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ebb5d95ad40f0" /><Relationship Type="http://schemas.openxmlformats.org/officeDocument/2006/relationships/notesSlide" Target="/ppt/notesSlides/notesSlide16.xml" Id="R338adfc3c07048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c3e8f540409d" /><Relationship Type="http://schemas.openxmlformats.org/officeDocument/2006/relationships/image" Target="/ppt/media/image3.png" Id="R9edd5d8fd2f24b83" /><Relationship Type="http://schemas.openxmlformats.org/officeDocument/2006/relationships/image" Target="/ppt/media/image4.png" Id="Re83947070ccc4ffc" /><Relationship Type="http://schemas.openxmlformats.org/officeDocument/2006/relationships/notesSlide" Target="/ppt/notesSlides/notesSlide17.xml" Id="Ra246a864df5d4d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e569bd7604b09" /><Relationship Type="http://schemas.openxmlformats.org/officeDocument/2006/relationships/notesSlide" Target="/ppt/notesSlides/notesSlide18.xml" Id="Rc72b28db991645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86d6404684f71"/>
          <a:srcRect xmlns:a="http://schemas.openxmlformats.org/drawingml/2006/main" l="0" t="3077" r="0" b="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04850"/>
            <a:ext cx="4953000" cy="348615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AB25E-BEE3-4195-9592-2082EE30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CARO AI 15x15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C420E-31B9-4121-97AB-C4489DB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Minimax search + CNN supervised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B3D1B-A8C0-4D28-8579-CE3E1F4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BBF24"/>
                </a:solidFill>
              </a:defRPr>
            </a:pPr>
            <a:r>
              <a:rPr sz="1500" b="1">
                <a:solidFill>
                  <a:srgbClr val="FBBF24"/>
                </a:solidFill>
              </a:rPr>
              <a:t>Đồ án Nhập môn Trí tuệ nhân tạo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2C144-F2D4-4A6B-BEA8-3304C46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957263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CF1AC-FBD5-4CF4-889D-B0C52CB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D44E2-86CE-476E-B334-2A7F453F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429000"/>
            <a:ext cx="957263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13D1C-C34E-447A-AC63-789D515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BE91-A744-49D1-A0F3-8DE8A74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29000"/>
            <a:ext cx="957263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A0EE5-2543-4F9C-876D-ADF7ADA0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13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9CD83-7AD5-46F4-BE12-4CED4D4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3429000"/>
            <a:ext cx="957263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87B06-9E5C-48D2-A94E-74B9149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5E7EB"/>
                </a:solidFill>
              </a:defRPr>
            </a:pPr>
            <a:r>
              <a:rPr sz="1350">
                <a:solidFill>
                  <a:srgbClr val="E5E7EB"/>
                </a:solidFill>
              </a:rPr>
              <a:t>Thành viên: Cao Minh Thông, Hồ A Nhật Lưu, Phạm Trà Minh Nhật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C56B4-72EC-4EB1-B117-AEAC69E1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71340-4969-44E9-992D-99290F62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0991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C5B034-37CF-4C55-A94E-8825B3C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76EA6-453D-4ECB-9BB9-891768F8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Mục tiêu bài trình bày và phân công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11CC2-5FA5-4272-9995-A8696BC4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771C2-03AC-47A0-A65C-A21D5C5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6C6AC-B52D-4C79-B926-658EC75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6F368-C8A7-44D8-973B-7609DC16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F9CF7-EBFB-429D-869B-B695E7AE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95650" cy="33147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F1282-7E5F-449F-9A16-F1C0D078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4A27"/>
                </a:solidFill>
              </a:defRPr>
            </a:pPr>
            <a:r>
              <a:rPr sz="975" b="1">
                <a:solidFill>
                  <a:srgbClr val="E84A27"/>
                </a:solidFill>
              </a:rPr>
              <a:t>Thành viên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59F0A-A5EC-4FE9-A7D6-280AB8D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Cao Minh Thông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C68AE-BE6B-4E84-A693-6DAB915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475569"/>
                </a:solidFill>
              </a:defRPr>
            </a:pPr>
            <a:r>
              <a:rPr sz="1425" b="1">
                <a:solidFill>
                  <a:srgbClr val="475569"/>
                </a:solidFill>
              </a:rPr>
              <a:t>N23DCCN195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6C16F-8F7E-402A-9ED8-892254DB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Minimax, CNN supervised learning, pipeline train, benchmark và logic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3686F-5863-4F4C-9CEC-DFFBA7AA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295650" cy="33147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84AEE-52D4-40F6-8FCE-2EE76260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Thành viên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13BAF-0A14-4E6D-B949-D70A5C9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Hồ A Nhật Lưu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60958-F37A-44DA-8F58-E9688B2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475569"/>
                </a:solidFill>
              </a:defRPr>
            </a:pPr>
            <a:r>
              <a:rPr sz="1425" b="1">
                <a:solidFill>
                  <a:srgbClr val="475569"/>
                </a:solidFill>
              </a:rPr>
              <a:t>N23DCCN173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97545-F97B-4AF3-9E3F-68BEF137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Luồng game, tích hợp AI vào gameplay, kiểm tra quá trình train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40092-7BA8-412F-8B4D-3BD06E3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295650" cy="33147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1E50D-E44E-4633-A98E-81C163E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Thành viên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A99AB-49F9-4CE8-AC31-D5DC672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Phạm Trà Minh Nhật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88ED2-2D0E-4DE8-9AB1-B21A2FB4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475569"/>
                </a:solidFill>
              </a:defRPr>
            </a:pPr>
            <a:r>
              <a:rPr sz="1425" b="1">
                <a:solidFill>
                  <a:srgbClr val="475569"/>
                </a:solidFill>
              </a:rPr>
              <a:t>N23DCCN179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DEC8D-A7AC-4E02-950A-9378B2F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Giao diện Pygame, màn hình menu/gameplay/kết quả, asset và logging.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FC4BD-545C-4A76-9624-57F9491C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Thứ tự thuyết trình: Thông (AI) -&gt; Lưu (hệ thống/train) -&gt; Nhật (UI/logging/kết luận).</a:t>
            </a:r>
          </a:p>
        </p:txBody>
      </p:sp>
    </p:spTree>
    <p:extLst>
      <p:ext uri="{BB962C8B-B14F-4D97-AF65-F5344CB8AC3E}">
        <p14:creationId xmlns:p14="http://schemas.microsoft.com/office/powerpoint/2010/main" val="497951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94778-5121-4F18-99FB-9026E179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NỀN TẢNG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D2896-F9BF-40AF-9C85-54AC6C1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Bài toán Caro dưới góc nhìn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B0C5-1515-4D00-94BD-FA521EF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9F88C-6EAA-41C9-A34E-C309A103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F1D25-8BBC-48A8-968A-C3C691C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D37B0-3F56-4D05-A5AF-F3F031C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A5199-8169-45B0-A343-1742F8B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B72CD-9394-437F-9941-84BDC47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C0479-F87E-483B-A7A8-89B4DA64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AI chọn nước đi cho player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568CF-EFA2-490F-BD72-73F4F73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33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6C26F-3E8A-4CC3-890A-7984AFB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84A27"/>
                </a:solidFill>
              </a:defRPr>
            </a:pPr>
            <a:r>
              <a:rPr sz="1650" b="1">
                <a:solidFill>
                  <a:srgbClr val="E84A27"/>
                </a:solidFill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16C57-D3DD-4F38-9871-5B5070E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Bàn cờ 15x15 và luật 5 quân liên tiếp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2D9E2-312C-4FB8-A024-6261E60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4DD21-7958-41AF-B548-36017A54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E092E-CAAC-410B-B1C6-C6404BC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Ma trận 0/1/2 biểu diễn trống/P1/P2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976DC-00AB-4224-B77E-066F262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7097A-A6AB-4D5B-B0D5-FEF4DCA8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84A27"/>
                </a:solidFill>
              </a:defRPr>
            </a:pPr>
            <a:r>
              <a:rPr sz="1650" b="1">
                <a:solidFill>
                  <a:srgbClr val="E84A27"/>
                </a:solidFill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51BC2-11FB-42AB-979F-4D6E62D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Tọa độ (row, col) của ô còn trống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AC625-A49A-4F14-89E4-F9044CC0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8D435-8C62-45A4-ACA7-888EF7A9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8C0EA-DC25-497A-AE30-FDD5A4AE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Thắng: +, thua: -, hòa/lợi thế: heuristic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FCD64-0639-40D0-8F4B-3CEEDC4D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71ED4-F25E-4300-B07F-5A3431F1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FFCFD-EFAC-4481-BB59-BF99C194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D744C-FB8E-4E0F-9C29-176B1D2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39DBB-162E-45D4-8736-A9A22F38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C34C8-27CA-4A08-90E4-D3B5775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7E833-36C1-44FC-BC08-1F2611E6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F98C2-ADEC-4C85-B170-5BB0313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AF10E-2A90-405E-A69E-16B0586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6ACFD-2DD2-4794-95BE-774200A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93A2D-809C-4EA1-8BCA-5BAC6AE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6E5A04-BB52-4A99-BE18-7507695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C95F1-093C-473C-8138-E05DFF3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B661F2-2333-4E82-A023-E28ED6D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6B8114-75AD-4275-80B8-8514929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1921C6-01F8-4E30-B9CE-CF9B86E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938196-DBD5-4E64-A419-DC639C6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4BE19-A03F-45C7-ACF5-B0EC6A09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F524B-3A2A-45F4-BCE7-A600635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CFED02-35A2-4D50-BA63-1C112EC4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D0B851-9B82-4295-8E53-268116D4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792331-0C42-4E57-B567-BAA13FA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7E33D5-3DCF-4535-AA95-FDB61EBE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0BEE6D-873F-48D6-A60A-8062E4B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66AD5A-F1FF-45B9-A6EB-9C0FC43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F0069E-F115-4F03-892A-93AF1F5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5DCC1D-D8BF-4A57-88E2-A651BB4B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12D35B-F5B2-4927-B1D2-9122038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67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55D491-0A49-4B54-9263-F9ED438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D9DA61-0AFD-40D0-AFD2-7A5BF35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FFFD75-6FD3-4E63-9537-3BA5E37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E38DFC-6EA8-4D73-A17C-BDAF7817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8FC92E-5FCA-43E1-904C-9E0FE60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92D420-C5D7-4EF2-AF87-C6B1439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6A1E12-3E4E-4852-8D38-FC678195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F790FF-1C34-4D5F-89C1-32C7EB69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D52287-2611-4FC1-87CE-A4D3A211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E1021A-E66F-4BEA-BD88-998F00C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8F1768-C8D0-49F8-9A7F-E714137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1859B7-D20E-4519-99E0-7FB0D39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EBE21B-95B1-4605-8B56-6393649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78DF48-9FE2-436C-809B-17BD8AA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536981-9F85-4535-B34A-905FD36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F2D67B-6396-4709-B6AB-C661C69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4705FC-2914-4746-891C-48291F3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D43CBB-D557-42B1-89DC-3CE74E8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FD04F1-677E-4740-B5C0-EB748673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ECD96D-C99F-4930-B397-4C91248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E79540-977B-49A4-8F9C-FCF9B769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95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41307E-B198-47FD-8658-C78F6B48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B10888-3DAD-4F8E-BA12-A826C435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667CEC-7D36-46DD-95F4-87C77F3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712BD1-2450-4D4D-9BBB-97B5CC1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05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581A5E-AAD3-4618-8C0D-47DB0CB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24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5EE1A3-AC35-429D-BAEC-DB18C0A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Trạng thái -&gt; đánh giá -&gt; chọn action</a:t>
            </a:r>
          </a:p>
        </p:txBody>
      </p:sp>
    </p:spTree>
    <p:extLst>
      <p:ext uri="{BB962C8B-B14F-4D97-AF65-F5344CB8AC3E}">
        <p14:creationId xmlns:p14="http://schemas.microsoft.com/office/powerpoint/2010/main" val="1713247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7340A-E571-4732-8569-FBC36B1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THIẾT KẾ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AAF16-F2C5-4466-9B31-10260D17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Yêu cầu và phạm vi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B5012-3820-42AF-A4B1-9293E186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A55B-E17D-4BDB-94EF-5CA84F02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CD3DD-878E-4810-9475-5223E718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58DD9-9331-441A-AEE1-FA24605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F3900-DF62-4F0E-9244-5341A07D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9DD6A-8037-4046-8104-2627B20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15 x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720E8-5816-46C2-B028-9995A73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Kích thước bàn cờ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B9484-D671-4BEC-AFA7-92C961C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E70AD-77FC-47B1-9B7C-3B898C70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84A27"/>
                </a:solidFill>
              </a:defRPr>
            </a:pPr>
            <a:r>
              <a:rPr sz="2550" b="1">
                <a:solidFill>
                  <a:srgbClr val="E84A27"/>
                </a:solidFill>
              </a:rPr>
              <a:t>&gt;=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2030C-3814-451C-A9F5-8DEF56F0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Điều kiện thắng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71C0E-99B9-4BF9-8B8E-CAFA893A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2ED53-F31F-4462-BB85-9744595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3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AB011-2551-4F75-BF69-ACD88187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Minimax / Collect Data / CNN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D2A10-65CE-4A9C-BF2E-3927F0B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52600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2383A-3B43-4F44-B841-A253A05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C3AED"/>
                </a:solidFill>
              </a:defRPr>
            </a:pPr>
            <a:r>
              <a:rPr sz="2550" b="1">
                <a:solidFill>
                  <a:srgbClr val="7C3AED"/>
                </a:solidFill>
              </a:rPr>
              <a:t>60 FPS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5A2F2-56C8-4440-9509-14425E83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Vòng lặp Pygame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DC99-E936-47A5-BFD5-A7322A8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52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Board.check_win chỉ kiểm tra cục bộ từ nước vừa đánh theo ngang, dọc, chéo xuôi, chéo ngược.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GameController điều phối trạng thái menu, chọn người đi trước, gameplay và màn hình kết quả.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Mỗi nước đi lưu snapshot bàn cờ trước khi đánh để biến thành sample train CNN.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AI chạy trên thread nền để UI không bị treo khi Minimax/CNN đang suy nghĩ.</a:t>
            </a:r>
          </a:p>
        </p:txBody>
      </p:sp>
    </p:spTree>
    <p:extLst>
      <p:ext uri="{BB962C8B-B14F-4D97-AF65-F5344CB8AC3E}">
        <p14:creationId xmlns:p14="http://schemas.microsoft.com/office/powerpoint/2010/main" val="667429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16F43-D89F-4408-9D24-BE0CBE4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TÌM KIẾM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170C5-770F-44CC-888C-66DE264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Lý thuyết Minimax và Alpha-Beta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C4AAA-532C-4FC9-9782-C39303E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54EF8-C6B8-4FB6-AE8F-0868AF2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88CF9-7FD7-4E7E-9403-7FC4A389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3223A-8C60-41DB-A31A-D62ECA01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D9E92-99DB-41DC-A96C-9465D59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</a:t>
            </a:r>
          </a:p>
          <a:p xmlns:a="http://schemas.openxmlformats.org/drawingml/2006/main">
            <a:r>
              <a:t>AI chọn điểm 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6812E-B43C-499C-BABB-29C9B9F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</a:t>
            </a:r>
          </a:p>
          <a:p xmlns:a="http://schemas.openxmlformats.org/drawingml/2006/main">
            <a:r>
              <a:t>Đối thủ chọn điểm thấp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BC9CB-793E-4E15-88F9-D948306D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Utility</a:t>
            </a:r>
          </a:p>
          <a:p xmlns:a="http://schemas.openxmlformats.org/drawingml/2006/main">
            <a:r>
              <a:t>Thắng / thua / heuristic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EDF40-A275-446A-A67F-8C58DC8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75569"/>
                </a:solidFill>
              </a:defRPr>
            </a:pPr>
            <a:r>
              <a:rPr sz="210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AF943-EA96-4DF3-A912-C27DAFBC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75569"/>
                </a:solidFill>
              </a:defRPr>
            </a:pPr>
            <a:r>
              <a:rPr sz="210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F65C3-296A-476F-A02E-8ED1C68F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Root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5E8CB-2A78-48E6-942D-6BB6E73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B85BD-FC02-4B8D-B2D2-AFDBC59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92B6A-F0ED-4DE9-8A52-4C3F413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0F7E6-4F35-48F3-82B2-91E73F66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+80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57884-59D6-4C16-A63E-2F5DC458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-40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6CBE6-6A64-4D5E-8ECC-6BB24AF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+10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5A18D-605C-4579-A150-B16BE74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+55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6F521-6F08-4381-8CB1-5C88EFC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-120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4D5DC-A875-4528-A028-48800389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38800"/>
            <a:ext cx="914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+30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22EF3-C782-4B50-A611-4EFEBC7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95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Alpha: điểm tốt nhất mà MAX đã đảm bảo.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Beta: điểm tốt nhất mà MIN đã đảm bảo.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Nếu beta &lt;= alpha, nhánh hiện tại bị cắt tỉa.</a:t>
            </a:r>
          </a:p>
        </p:txBody>
      </p:sp>
    </p:spTree>
    <p:extLst>
      <p:ext uri="{BB962C8B-B14F-4D97-AF65-F5344CB8AC3E}">
        <p14:creationId xmlns:p14="http://schemas.microsoft.com/office/powerpoint/2010/main" val="1592502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26312-7F6F-4C85-8AD7-0180DE2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TÌM KIẾM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55025-E4B7-42A3-B545-EF1A86B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Minimax trong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6F658-3BAF-4B04-B60D-8AE50D7E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25C72-15EF-4441-824B-7280599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9D46-D87C-4D1B-B728-A308BA7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E097D-D972-40D3-B136-266F740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3ACFE-62E3-4D8F-8C96-6183355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4E9C8-7756-474E-9ABE-C8EF31F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84A27"/>
                </a:solidFill>
              </a:defRPr>
            </a:pPr>
            <a:r>
              <a:rPr sz="2550" b="1">
                <a:solidFill>
                  <a:srgbClr val="E84A27"/>
                </a:solidFill>
              </a:rPr>
              <a:t>depth =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7BC51-A733-4D3E-A76D-DFCB9B5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Minimax chính trong gameplay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9592A-44F7-4F27-81AC-D57C0BCF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1010A-0552-4E23-9A35-B1DA08E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1.0s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89CD3-7B53-4D53-A9D4-9A02F38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62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Time budget mỗi lượt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BE839-B564-4EF7-900E-5D076A4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335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EBEB7-CAC8-422E-B742-71ABB28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30 / 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5DA97-ED10-4BF2-81B4-1934914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Giới hạn candidate root / branch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A0A1C-D413-4DDC-B865-3C8B968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215B1-093D-427C-8A01-B9055D6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08B48-4B5F-45BA-AA46-03B6D16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85689-C6A0-446F-A9B7-F7AF109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857B3-412C-414D-8EDA-07643C04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C4D34-1C04-4736-8658-0CEB184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6E3DE-27E6-492E-83A5-99A3B38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33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BAEE6-9DC6-4D68-80F0-6A7BE2F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95436-20EE-4C6A-B5CF-2415C55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F4FE8-0F1A-4382-AD2E-02B4AD9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4EFA0-81D9-4D5A-B1CB-D231A779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62FB6-66E8-4139-96E0-0F22EAF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C75F4-2A0B-4AAD-AEDD-FBE4174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56373-D84F-4C8F-B350-45FEF54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61D75-26DA-4E34-91FB-A6A14AB4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85842-944F-4B42-B0FF-C64A2EB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37B60-A5F2-4D77-A49F-CFF6166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92B3AD-7C6C-4C2A-BE8C-E45DA860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C0F3BE-0C8D-4BA8-B59E-024E9B7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C514A4-FD8E-47BC-8F12-CD6CAE03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D9C1AA-DE3C-4196-BFF9-DEE5A6E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DF9418-EE27-4815-96A8-82421FA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F09F28-76F7-4DE7-80E1-BE55DF68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267900-0853-4984-ABC1-BB47DE2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320D39-7E4E-4114-AA0E-F17FDA8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243E92-4A65-408B-8A8F-0D2BBC8D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ED171-33DE-436F-9FE2-2EAB7E3B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15600D-21BD-4863-BFF6-9000390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B0221C-71A0-4450-9541-44B43A5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C62021-E3CF-4F59-833D-57231252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6AEA97-4808-40C1-96BA-619BB348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7C5B72-E481-4761-957B-65320B2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AEEC30-BA18-403B-A07E-6A2DA70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A87685-3707-4120-AB22-F62AF25E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563486-1E3A-4E32-8C9D-8A284F5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29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9533B1-0DB6-458F-9A8D-2799B4D6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781370-57BC-4945-82C9-FEAC812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925B34-E412-430F-A6A8-E0CEB4D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3D35A0-1479-4008-B813-A70FD8A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7855FE-03DF-4364-B6E4-55F970A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B5C0BC-2345-4821-9632-0C89471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0DD873-633F-4E0A-B3F8-4FDA025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6095DE-F093-42C2-A249-F739292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570D98-6D04-42EB-B653-C42CAF8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53594C-C371-4324-A5F6-41C243B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89E6AC-575E-45E9-AA72-2EBF5855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2E83DE-FDAF-42B1-9097-C8F9978D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05DC91-F4B5-448B-A161-B38727AB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231083-B41F-476F-BA7B-D54AC92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76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98E497-B7E5-422A-9B74-F9FB136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4515E6-ECC4-431E-9A92-C53C03B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52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0EAC59-D345-4727-BAC2-5B42F8B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752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B296A2-47ED-4B75-99E2-993D0138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F1A0D1-EF67-4D11-B129-53AD4BED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076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F8B5CF-5BB4-4AE6-945B-57CC3CF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29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FA77A4-E0B7-47FD-A506-1FB857D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7105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find_immediate_move: ưu tiên thắng ngay hoặc chặn đối thủ thắng ngay.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order_moves: sắp xếp ứng viên theo threat score, số hàng xóm và khoảng cách đến tâm.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transposition table: lưu điểm các trạng thái đã tính bằng Zobrist hash.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quiescence search: nhìn thêm ở các vị trí còn đe dọa mạnh để giảm horizon effect.</a:t>
            </a:r>
          </a:p>
        </p:txBody>
      </p:sp>
    </p:spTree>
    <p:extLst>
      <p:ext uri="{BB962C8B-B14F-4D97-AF65-F5344CB8AC3E}">
        <p14:creationId xmlns:p14="http://schemas.microsoft.com/office/powerpoint/2010/main" val="1647046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1F935-7CB4-4228-97A1-ADE2690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TÌM KIẾM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37D07-E509-4638-9557-33E28CE7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Heuristic đánh giá thế cờ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7FA7-00D4-49A5-87C7-3C0CA7D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CF623-E947-40ED-9EF6-4244BE4D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462E6-8BAE-49C0-8085-1EA4599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F5337-31B1-4EE1-863F-D508283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46157-DDC2-4D01-8A2C-CD21288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F4207-97D4-40F8-8190-58AA2FD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Open four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CAD88-B63C-4273-8D93-EE0547B2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A3BAE-DF23-4B84-B68A-742DE61D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.XXXX.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E7ECE-289B-42B0-ACA0-48912EB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250000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49A92-8A00-4FE0-BD8E-20F88B0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7C77A-2EC2-4529-BBE9-0C0D592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4A27"/>
                </a:solidFill>
              </a:defRPr>
            </a:pPr>
            <a:r>
              <a:rPr sz="1500" b="1">
                <a:solidFill>
                  <a:srgbClr val="E84A27"/>
                </a:solidFill>
              </a:rPr>
              <a:t>Double threat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044B1-16C0-4829-8DCC-373BEE7B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34CB4-65CC-43E3-A8BC-32D5DC8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2 huong de doa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32054-5052-4630-B58F-5053C84F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120000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97A42-AD32-4293-9321-A5860863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A32C2-5F3B-4ED0-911E-30D64D0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Blocked four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2CE46-0E21-47D1-9E5D-2F32376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6D2BC-1066-48C6-ADBE-8DADD7C7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147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OXXXX.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BD1DD-320D-4F5A-A9AC-E00EF9AF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25000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1A605-BDC2-4C97-B8C7-697E6F38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0B4DD-48D2-4DEA-B6C7-81C81AF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Open three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FC20C-7073-46B3-A533-82B8FDCE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06AD6-A7E9-4631-A9EB-781C93A1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95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.XXX.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20BA5-8ACB-4766-9C11-284CE1A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8000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04297-D430-491B-8AD0-14B8BBA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00D46-6A71-4E8A-8259-5D84A25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Broken three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5694B-35D3-4BA3-81F1-83EA2575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176C8-ED81-4031-9B41-FC90AF4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244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.XX.X.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EAB0B-15AB-435A-BF4A-7EAC5BD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5000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2B13F4-AE4D-42D2-B57E-C246AA0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2933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FF213B-5D6B-400D-84A1-DA11C70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Công thức ý tưởng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A7B68-DBD4-4E1D-A6D0-DAB6463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score = AI_threats</a:t>
            </a:r>
          </a:p>
          <a:p xmlns:a="http://schemas.openxmlformats.org/drawingml/2006/main">
            <a:pPr algn="ctr">
              <a:buNone/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        - 10 x Human_threats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CC018-AC99-412F-B539-7E25B57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Trong Caro, bỏ qua phòng thủ một nước có thể thua ngay, nên điểm đối thủ được nhân trọng số cao.</a:t>
            </a:r>
          </a:p>
        </p:txBody>
      </p:sp>
    </p:spTree>
    <p:extLst>
      <p:ext uri="{BB962C8B-B14F-4D97-AF65-F5344CB8AC3E}">
        <p14:creationId xmlns:p14="http://schemas.microsoft.com/office/powerpoint/2010/main" val="175759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D9E9B-ED21-4833-A3AB-5EEA8D3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TÌM KIẾM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FAE06-DC91-4C13-9BA7-DF5F2CFE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Tối ưu tìm kiếm: Zobrist và Quiescence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06A28-0570-4E28-BDC9-B70A07AF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AA92-3060-465A-91A1-7084BA2F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1EBD6-0CA1-4564-89CA-B448E90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6B0C1-6AC9-4395-8581-10CFEB7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90BB5-FCAA-4A3B-AFA5-F4136A7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14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8DF58-0362-4B9B-AA2F-5CF156B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Zobrist hashing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F713D-0A52-4694-8C83-CBBA1C1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038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Mỗi cặp (ô, quân) có một số 64-bit ngẫu nhiên cố định.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Đặt hoặc xóa quân: hash mới = hash cũ XOR value.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Dùng làm key cho transposition table.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Nhanh hơn so với chuyển cả board thành tuple lớn.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E5982-1224-4516-A710-C00BB2C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9F52A-AB9C-4F97-865C-4BDE99ED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3371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hash' = hash XOR Z[row][col][player]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A0CB2-48C7-41B0-9FD3-357DDBE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914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037AE-A7AF-4F73-83D4-7D756B9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4A27"/>
                </a:solidFill>
              </a:defRPr>
            </a:pPr>
            <a:r>
              <a:rPr sz="2100" b="1">
                <a:solidFill>
                  <a:srgbClr val="E84A27"/>
                </a:solidFill>
              </a:rPr>
              <a:t>Quiescence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5881D-C18A-4303-A3F6-328B66E8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038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Horizon effect: depth hết ngay trước một nước nguy hiểm.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Chỉ mở rộng các nước forcing: win, block, open four, broken three.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Dự án giới hạn q-depth = 2 và tối đa 8 nước để không quá chậm.</a:t>
            </a:r>
          </a:p>
          <a:p xmlns:a="http://schemas.openxmlformats.org/drawingml/2006/main">
            <a:pPr>
              <a:buNone/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- Kết quả: AI ổn định hơn trong các thế sắp thắng/thua.</a:t>
            </a:r>
          </a:p>
        </p:txBody>
      </p:sp>
    </p:spTree>
    <p:extLst>
      <p:ext uri="{BB962C8B-B14F-4D97-AF65-F5344CB8AC3E}">
        <p14:creationId xmlns:p14="http://schemas.microsoft.com/office/powerpoint/2010/main" val="1696558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944AA-55B1-42A7-ABD3-A2297CB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83D84-F558-454A-8EC5-031B6D86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Lý thuyết CNN 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8C0C-7E18-42D9-A6B1-04E5532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F2426-D4A4-445E-BFFB-78104BA1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2C5C0-A1B4-4FB0-AFE4-374752D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C68E0-ABAF-465D-9829-EDEEDF6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78999-032B-4B5E-83CC-42C12A8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43138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Board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37EFE-AFA8-4E77-9155-488D08C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2066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CCB9-1673-463A-BA8E-3BFF58A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809750"/>
            <a:ext cx="2243138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CNN feature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21841-D74F-4F62-97DB-C64C8AF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66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FC38A-9F77-4266-9632-C2EEDDF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09750"/>
            <a:ext cx="2243138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Policy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0EF59-8649-461F-B48E-8E9A2A7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066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72002-5B5C-4FC1-80E9-5ADA8C6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1809750"/>
            <a:ext cx="2243138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225 move probabilities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EE8B6-BC0D-4BF1-8269-A8F7F2A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8969F-6C4A-4FF8-9E64-B44E5AE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982AE-C46B-45A2-AE48-65518AB6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15x15x3</a:t>
            </a:r>
          </a:p>
          <a:p xmlns:a="http://schemas.openxmlformats.org/drawingml/2006/main">
            <a:pPr algn="ctr"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kênh quân mình, đối thủ, ô trống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6B3B2-30CB-462D-AA95-EC3B161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FEA00-095D-4B86-913C-1CFA0F9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14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84A27"/>
                </a:solidFill>
              </a:defRPr>
            </a:pPr>
            <a:r>
              <a:rPr sz="1725" b="1">
                <a:solidFill>
                  <a:srgbClr val="E84A27"/>
                </a:solidFill>
              </a:rPr>
              <a:t>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87909-1B5C-43DF-8EA2-B5C3B3E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338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action index = row * 15 + col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20105-3A37-4093-A599-E64BDEC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74E34-3873-4ED1-B7EB-FDA31B8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DC2626"/>
                </a:solidFill>
              </a:defRPr>
            </a:pPr>
            <a:r>
              <a:rPr sz="1725" b="1">
                <a:solidFill>
                  <a:srgbClr val="DC2626"/>
                </a:solidFill>
              </a:rPr>
              <a:t>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DE231-8B90-4FE0-8658-6BCB9F2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Sparse categorical cross-entropy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BE76F-D233-436D-98A2-4B9592A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EB613-B225-4FDC-9296-D32A102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14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4A0B5-2C2B-43F2-A26C-C732074D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338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Accuracy top-1 và top-3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4C792-D7E2-4A2C-A995-0D7C7031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Supervised learning ở đây là học bắt chước những nước đi được xem là tốt trong dữ liệu, không phải reinforcement learning.</a:t>
            </a:r>
          </a:p>
        </p:txBody>
      </p:sp>
    </p:spTree>
    <p:extLst>
      <p:ext uri="{BB962C8B-B14F-4D97-AF65-F5344CB8AC3E}">
        <p14:creationId xmlns:p14="http://schemas.microsoft.com/office/powerpoint/2010/main" val="1688342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E669D-E0C3-4308-A982-8640A53A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499CB-EFEF-4A23-98B0-7D94305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Kiến trúc CNN áp dụng trong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F3FB4-85DB-4E54-A55D-3EFFC81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4055C-8DF3-41D5-894C-412A9FF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11295-E12D-40CD-9950-AEE9D4FE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DD296-46C6-4316-AD8F-87BECF02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FE637-D393-4FF7-8922-3404768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Input 15x15x3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58CB-239A-48FE-A9B5-D8C5E327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2133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7781-62F2-4CB3-9282-87EC293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Conv 3x3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A4B94-0C7E-498F-9A5E-DEEB50F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275" y="2133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280DF-5768-472F-930E-A5405A4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3 residual blocks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75AA8-7DBF-4429-8B8F-7C135A86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DFD19-F82A-40BA-8815-4CA4B05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Policy 1x1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7BBC7-81C0-46E9-81B5-76556557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25" y="2133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10A82-E88E-412E-B2BE-E7180CFC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Dense 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5C5D1-B7B0-42B0-A150-84C967A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2133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86361-8245-40FB-B4A7-42345E5B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18859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Softmax 225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FDFA2-8FF2-492B-BBDC-99D6336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343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3D535-F2C5-4F65-B34B-730F8B60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Residual 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77968-F2F0-4C14-A8E2-3F93B1FD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3543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A5CDC-0506-4092-8C46-CF48CB8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x -&gt; Conv3x3 -&gt; BN -&gt; ReLU -&gt; Conv3x3 -&gt; BN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            + shortcut -&gt; ReLU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AA8F8-995D-4EA9-8D9D-E844AEA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4343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40D06-83E3-41D4-9187-2B748AAF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Inference hợp lệ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3D25A-121F-433C-B21C-0502BAFF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3562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Model dự đoán xác suất cho toàn bộ 225 ô.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get_best_move chỉ xét những ô grid[row][col] == 0.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Nếu model lỗi/None, controller có fallback để game không kẹt.</a:t>
            </a:r>
          </a:p>
        </p:txBody>
      </p:sp>
    </p:spTree>
    <p:extLst>
      <p:ext uri="{BB962C8B-B14F-4D97-AF65-F5344CB8AC3E}">
        <p14:creationId xmlns:p14="http://schemas.microsoft.com/office/powerpoint/2010/main" val="1678340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11917-01E5-4728-AFA4-127E080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701AC-1A1B-4AFE-B971-FA53C152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Pipeline dữ liệu và training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CAF15-D8DD-49C9-8249-AADF98A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6D406-E1D5-46F1-8C9C-406B8A00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93E0-60F0-4623-A069-69AE4D3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54520-F657-4A6C-9EEC-8DE6FEC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45DA7-95EF-4641-8D8A-E802160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Game log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8D09D-8A16-44DE-8597-D83611F6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3C49D-1781-4D93-8FC1-DD40667B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Lọc winner moves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1F3A3-9C7E-466C-BCE1-A1A3C619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275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B3973-DD24-4AD8-B0F8-9EC9C0E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C2E23-02BB-44BB-9B4F-696524D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44939-51E9-401B-9422-AA7A359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8 symmetries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2247D-98DB-450A-8E7A-580274EB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25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78360-1590-4310-B1D2-5C6C7AD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Train/validation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79ABA-97A5-4D97-A2A8-3F71396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B106C-1B71-45E0-9391-CBE10DB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1828800"/>
            <a:ext cx="14890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Callbacks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29C5A-C92A-41F8-A1D9-876BA75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B2F53-18AE-4E2D-856F-F4D9E01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Lọc dữ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F8B2D-2A5D-41DE-8A0F-1634D0BC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43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winner phải là 1 hoặc 2; move phải hợp lệ; source thuộc human/minimax.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90E21-8589-42F3-9E75-2C3B5ABC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22B68-A4B8-4A73-BFD7-E6F92F8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Tăng cường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13D11-E2A2-43EF-A1BD-229DCB3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43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Mỗi nước gốc tạo 8 mẫu bằng xoay 0/90/180/270 và lật ngang.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44590-C2FF-44F0-A543-28603299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73806-1F88-47B9-86DC-DF83010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Train ổn định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92ED8-91F3-4626-881D-24EE7EEA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10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EarlyStopping, ReduceLROnPlateau và ModelCheckpoint lưu epoch tốt nhất.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201EB-CE14-47E0-BD0F-F2FB74D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958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E94EE-6FBE-4B77-B99B-C1B51DE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9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84A27"/>
                </a:solidFill>
              </a:defRPr>
            </a:pPr>
            <a:r>
              <a:rPr sz="1575" b="1">
                <a:solidFill>
                  <a:srgbClr val="E84A27"/>
                </a:solidFill>
              </a:rPr>
              <a:t>Archive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73AE4-FBA2-49F2-9AFB-527555A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0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Log đã train được chuyển sang data/logs_archive để tránh train lặp.</a:t>
            </a:r>
          </a:p>
        </p:txBody>
      </p:sp>
    </p:spTree>
    <p:extLst>
      <p:ext uri="{BB962C8B-B14F-4D97-AF65-F5344CB8AC3E}">
        <p14:creationId xmlns:p14="http://schemas.microsoft.com/office/powerpoint/2010/main" val="711258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05F94-C7C9-41BF-9740-604103D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48D75-DD09-4D8B-B089-424F94A1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Benchmark và kiểm thử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4828A-70A7-48CE-AC8C-F2601761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Cao Minh Thông - N23DCCN195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5F8E1-24F9-4D27-8A28-C037AD1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5D66C-A0C7-40B6-9596-5F48E545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D5C7B-AFE0-4785-95A3-4F423BA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A13DB-A332-4BCA-8F7C-94B60A0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0EAE8-DEE9-4151-ABF3-491CEEDA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41 / 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2DFC5-CB1A-4CC7-8170-D84AC400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E516D-2D36-45B7-A2B4-F66D249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3355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CDA02-A003-4318-8C7B-21D3CAF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5 nhóm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AC7E3-E3A1-4248-833F-06F18471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Board, Minimax, Evaluate, Controller, Supervised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4F642-E312-429B-B8F5-A75374DF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67B71-4C66-438E-B962-5A3F1F0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84A27"/>
                </a:solidFill>
              </a:defRPr>
            </a:pPr>
            <a:r>
              <a:rPr sz="2550" b="1">
                <a:solidFill>
                  <a:srgbClr val="E84A27"/>
                </a:solidFill>
              </a:rPr>
              <a:t>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B34A4-2373-4B27-8FD0-DBFD2401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benchmark không cần Pygame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ED920-1697-4001-90FC-113A953B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0C896-16AE-4396-A559-994E94A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C3AED"/>
                </a:solidFill>
              </a:defRPr>
            </a:pPr>
            <a:r>
              <a:rPr sz="2550" b="1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F46AA-E883-47D5-BBD2-5AB777D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invalid moves trong smoke random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C13CB-AE62-41E6-A6AC-CDA48DD6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AE2DD-E36B-45C3-AC8B-94435BD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81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C2F13-DBDB-4BBA-9349-F95E35C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62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reject out-of-bounds, occupied cells, 4 hướng thắng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9C2A9-4BE8-4DFE-A1AA-868A40F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1A625-69D4-44D6-BAEE-F50BD482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4A27"/>
                </a:solidFill>
              </a:defRPr>
            </a:pPr>
            <a:r>
              <a:rPr sz="1500" b="1">
                <a:solidFill>
                  <a:srgbClr val="E84A27"/>
                </a:solidFill>
              </a:rPr>
              <a:t>Minimax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711A9-A5FE-498A-90E8-6612F14D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62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immediate win/block, neighbor moves, Zobrist, quiescence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42AEE-B1BD-4AC7-8DE8-032238EA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15C47-4DBA-42D1-A0CF-1D091A6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57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Controller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B7328-FB48-4A16-9997-978B86DE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reset state, thread request id, lazy-load CNN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6361B-4165-4EC2-A195-4AC0FEA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F4BE5-1B63-476F-8BCA-24444C90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Supervised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A3F6C-0507-423D-908A-E0A6A35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valid train step, 3-channel encoding, residual block</a:t>
            </a:r>
          </a:p>
        </p:txBody>
      </p:sp>
    </p:spTree>
    <p:extLst>
      <p:ext uri="{BB962C8B-B14F-4D97-AF65-F5344CB8AC3E}">
        <p14:creationId xmlns:p14="http://schemas.microsoft.com/office/powerpoint/2010/main" val="6950693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7246F-D5FE-4C11-A08F-F423350F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96328-0D72-4417-A296-80C2015A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Kiến trúc build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2F5D-A3BF-4DBD-BB0D-656AFF7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Hồ A Nhật Lưu - N23DCCN173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A581F-EC52-407C-9900-74B5D967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E608D-A0AB-4E4E-B027-91940CDE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EEE34-D707-4C9C-9830-DBC83EB9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9E214-6F55-4B95-A3E3-1F59136E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80213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Pygame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9342C-AD08-4428-8267-5DA4BF6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505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5D61-2AD2-4741-B2BC-B9B2F052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66900"/>
            <a:ext cx="180213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GameController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88D44-D67A-4462-8F9C-8A049153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85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3B08E-9292-4134-8469-599A5182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66900"/>
            <a:ext cx="180213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Board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6808D-E44F-4DB3-B779-5AD04E70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065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7ABD-BEC0-40FD-B228-42353820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66900"/>
            <a:ext cx="180213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AI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18069-BB50-4174-8997-3B448CC4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7F05B-4986-4252-A34F-C2E8B6E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66900"/>
            <a:ext cx="180213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JSON logs /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DC7D4-29D2-414E-B229-A6725F9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E7A24-A0B3-4EF7-B417-12608307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src/ui.py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71AA5-9047-4D18-A7DF-D84C7819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Vẽ menu, gameplay, kết quả, asset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D48C2-77E5-42CB-B2E7-D6DE6EDB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A1FC9-7B72-4EDE-9287-543F3E3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src/main.py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A92D2-6171-4E69-85BC-71422FA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State machine, thread AI, lazy-load CNN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84B5A-AE13-4AD8-8DA7-2719C703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891CB-D244-46F6-9F7A-795F8B95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src/board.py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3A86C-0B5B-4A58-B971-6FD2ED8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Đặt quân, kiểm tra nước hợp lệ, check win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EF880-5483-4386-85D7-CA67BEC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3E6D8-085C-45D6-BEFB-E59A9C3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4A27"/>
                </a:solidFill>
              </a:defRPr>
            </a:pPr>
            <a:r>
              <a:rPr sz="1500" b="1">
                <a:solidFill>
                  <a:srgbClr val="E84A27"/>
                </a:solidFill>
              </a:rPr>
              <a:t>ai/minimax.py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C636E-BDF9-4802-99FA-0D9266F9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Adversarial search và heuristic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410F6-B0DB-431F-B34A-DED8D2B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958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B9808-3D28-49D0-AA6E-01B7ECE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4A27"/>
                </a:solidFill>
              </a:defRPr>
            </a:pPr>
            <a:r>
              <a:rPr sz="1500" b="1">
                <a:solidFill>
                  <a:srgbClr val="E84A27"/>
                </a:solidFill>
              </a:rPr>
              <a:t>ai/supervised.py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69EB51-5559-4089-833E-8F841D53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CNN policy, dữ liệu, train callbacks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66581-220F-4E87-A505-AA0288A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181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3884B-0BA2-451F-80C6-2AFCEDE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4A27"/>
                </a:solidFill>
              </a:defRPr>
            </a:pPr>
            <a:r>
              <a:rPr sz="1500" b="1">
                <a:solidFill>
                  <a:srgbClr val="E84A27"/>
                </a:solidFill>
              </a:rPr>
              <a:t>data/*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8BF20-F58D-460E-AD30-E3B7A291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human_logs, logs_archive, models, training_history</a:t>
            </a:r>
          </a:p>
        </p:txBody>
      </p:sp>
    </p:spTree>
    <p:extLst>
      <p:ext uri="{BB962C8B-B14F-4D97-AF65-F5344CB8AC3E}">
        <p14:creationId xmlns:p14="http://schemas.microsoft.com/office/powerpoint/2010/main" val="1460008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68C7F-8849-4AD2-BF53-9C575E52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45C51-922B-43C8-8C48-3434BFE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Tích hợp AI vào gameplay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D5A1C-85F2-4DD7-864C-9F04E86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Hồ A Nhật Lưu - N23DCCN173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11F67-CB93-4F7A-AC35-ED6BE655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9E269-ED2A-430F-A807-2B2442D6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17447-774A-4948-8D91-2F6E9949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55E41-7510-470C-BE4D-46E1D9F8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Click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48C69-870B-4637-A6F8-710DFE5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CB0B-20C8-4F05-8A57-094658B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Select first 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37285-8BD8-44C0-AD32-E4BEB4F9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275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A2ED4-80F5-49D1-8212-74641EDC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Human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A48B4-1A2E-4FA4-BE84-89B79A47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0C2FF-EB39-4117-B8C6-43FD92C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AI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12450-BE31-4653-A163-6D6492E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25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6C93F-A7C4-4531-B197-A1E392A1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Validate move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78F17-B0FD-4E52-9042-265EBE2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C2271-D887-4C8C-9D70-5CA740BF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1809750"/>
            <a:ext cx="14890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Render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5574A-89A8-4657-8DD9-CE73E27F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43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5A2C7-6EA5-4D1C-8AEE-40321DE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Minimax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CF273-AD75-441A-A594-1EE6A50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ai_devil = MinimaxAI(depth=3)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quick_check_ai = MinimaxAI(depth=1)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fallback_random=True nếu AI không sinh được nước hợp lệ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DDFEF-2A02-4209-9BB2-7DF5FD3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47434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4A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776EC-8A0C-448C-B910-32422CE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84A27"/>
                </a:solidFill>
              </a:defRPr>
            </a:pPr>
            <a:r>
              <a:rPr sz="2025" b="1">
                <a:solidFill>
                  <a:srgbClr val="E84A27"/>
                </a:solidFill>
              </a:rPr>
              <a:t>CNN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1A542-3889-4210-BCA6-8E113FFE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Lazy-load SupervisedAI khi có model .h5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Khóa TensorFlow khi predict trên thread nền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Chỉ nhận nước còn trống; nếu lỗi thì fallback</a:t>
            </a:r>
          </a:p>
        </p:txBody>
      </p:sp>
    </p:spTree>
    <p:extLst>
      <p:ext uri="{BB962C8B-B14F-4D97-AF65-F5344CB8AC3E}">
        <p14:creationId xmlns:p14="http://schemas.microsoft.com/office/powerpoint/2010/main" val="2102328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2FE01-AF59-4872-BDB0-ACDF309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AI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45132-933C-40FC-BA5F-155063FB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Kết quả train CNN gần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4AEA3-49B9-4404-ADC9-9176463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Hồ A Nhật Lưu - N23DCCN173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C213E-9BBE-4090-A994-85E86E6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FF9AF-BF86-47C0-A3BA-B0CCCA3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B7DF-1B3D-44D6-BC11-7AD32780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2FB0-BB6F-4937-BFF1-DACBD7F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BC610-EC06-4804-A6A0-DD94993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408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25AC9-55E7-4817-862B-E529C86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usable game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93F1A-1A08-4564-818F-CDB3B3C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573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C5FBB-C399-40C7-AD31-76019AB6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84A27"/>
                </a:solidFill>
              </a:defRPr>
            </a:pPr>
            <a:r>
              <a:rPr sz="2550" b="1">
                <a:solidFill>
                  <a:srgbClr val="E84A27"/>
                </a:solidFill>
              </a:rPr>
              <a:t>58,288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1ECDF-BD92-41C7-9D55-650C368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60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augmented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D8DAA-E4C6-4FDD-8623-079E3C6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573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9BA4D-B046-4E39-825B-FC2F2D63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28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9 / 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9FF09-1DCF-4A95-87BB-BC0D31E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epoch thực chạy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2F598-8C91-4EB6-8ECC-2E856852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2972F-FB06-4977-9248-76083BD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41 / 41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176A1-B7D2-4EA9-BDDE-F9D8148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unit tests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DB101-D65D-45C4-9199-408C8889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EFBA3-82F6-48AF-A5C7-139F975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669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Best epoch: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18DCB-8DD2-4866-B99F-904687A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val_loss 2.1357</a:t>
            </a:r>
          </a:p>
          <a:p xmlns:a="http://schemas.openxmlformats.org/drawingml/2006/main">
            <a:pPr algn="ctr"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val_top3 66.5%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19db27b3a4a37"/>
          <a:stretch xmlns:a="http://schemas.openxmlformats.org/drawingml/2006/main"/>
        </p:blipFill>
        <p:spPr>
          <a:xfrm xmlns:a="http://schemas.openxmlformats.org/drawingml/2006/main">
            <a:off x="1981200" y="3181350"/>
            <a:ext cx="4457700" cy="247650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803CC-732A-4D27-9256-B0BF0EA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14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Validation accuracy tăng đến khoảng 45.9% ở epoch 8, sau đó val_loss xấu đi.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EarlyStopping restore best weights, nên model cuối không lấy epoch bị overfit nhất.</a:t>
            </a:r>
          </a:p>
          <a:p xmlns:a="http://schemas.openxmlformats.org/drawingml/2006/main">
            <a:pPr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Kết quả phù hợp với tập dữ liệu còn nhỏ: model học được pattern cơ bản nhưng chưa đủ mạnh như AI search.</a:t>
            </a:r>
          </a:p>
        </p:txBody>
      </p:sp>
    </p:spTree>
    <p:extLst>
      <p:ext uri="{BB962C8B-B14F-4D97-AF65-F5344CB8AC3E}">
        <p14:creationId xmlns:p14="http://schemas.microsoft.com/office/powerpoint/2010/main" val="2663742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B5D6D-FA92-47DD-839C-2310426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3C15D-1630-4465-A410-72BE48C8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Cách build, train và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16F64-32F9-431C-896B-B833F404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Hồ A Nhật Lưu - N23DCCN173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62B88-1D9F-42B0-9FC4-F3F74C8F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2F544-93CF-4D63-A53F-28B6C8D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D374D-5383-4C6C-8272-095B86A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CFAB4-A572-4FA1-B440-F6F53BEE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6FA4B-A4E7-44AA-959C-105491E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19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pip install -r requirements.txt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python src\main.py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A4E57-030C-4D8D-9766-6600A567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Chạy game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24AFF-9E2B-4A6C-9C7F-D0B1B7B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43318-E9A0-4F8F-8A3D-DFB73EBF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419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python ai\train_cnn.py --rebuild-model --epochs 30 --batch-size 32 --learning-rate 0.001 --seed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D0EC4-2FA2-46B5-806A-318CF5C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84A27"/>
                </a:solidFill>
              </a:defRPr>
            </a:pPr>
            <a:r>
              <a:rPr sz="1650" b="1">
                <a:solidFill>
                  <a:srgbClr val="E84A27"/>
                </a:solidFill>
              </a:rPr>
              <a:t>Train CNN từ 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047E-6EF9-4BC7-A4B0-742D1F0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93025-07C3-46E4-8A91-8324021A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419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python -m unittest tests.test_logic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python ai\evaluate.py --games 6 --include-cnn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09B01-25CD-491A-91A8-40820EB2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Kiểm thử và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63F43-B6CB-4817-9AAC-9333971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A2300-53DA-49C8-861B-B1A3F9C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- Model chính: data/models/caro_supervised.h5</a:t>
            </a:r>
          </a:p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- Checkpoint tốt nhất: caro_supervised_best.keras</a:t>
            </a:r>
          </a:p>
          <a:p xmlns:a="http://schemas.openxmlformats.org/drawingml/2006/main">
            <a:pPr>
              <a:buNone/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- History train: data/training_history/cnn_training_history.*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97BEF-0F03-4859-864C-195AE338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Thứ tự demo gợi ý: mở menu -&gt; PvP Minimax -&gt; cho AI chặn/thắng -&gt; VS TRAINED CNN -&gt; mở history train.</a:t>
            </a:r>
          </a:p>
        </p:txBody>
      </p:sp>
    </p:spTree>
    <p:extLst>
      <p:ext uri="{BB962C8B-B14F-4D97-AF65-F5344CB8AC3E}">
        <p14:creationId xmlns:p14="http://schemas.microsoft.com/office/powerpoint/2010/main" val="1706508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99675-6DB9-404F-A125-4B01B98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64589-F1FF-476D-8D6B-18B1E6A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Giao diện Pygame và logging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BCDBB-0187-41C2-862A-55DF7B8E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Phạm Trà Minh Nhật - N23DCCN179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156CA-8654-4AC7-973E-0F348A6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987AF-C3EC-458C-B82D-8F28D73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5549-6B21-49DC-AEA9-B9F113F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d5d8fd2f24b83"/>
          <a:srcRect xmlns:a="http://schemas.openxmlformats.org/drawingml/2006/main" l="0" t="5914" r="0" b="5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733550"/>
            <a:ext cx="3543300" cy="2343150"/>
          </a:xfrm>
          <a:prstGeom xmlns:a="http://schemas.openxmlformats.org/drawingml/2006/main" prst="round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947070ccc4ffc"/>
          <a:srcRect xmlns:a="http://schemas.openxmlformats.org/drawingml/2006/main" l="0" t="1190" r="0" b="1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733550"/>
            <a:ext cx="3200400" cy="23431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3DBE6-9665-4D6D-9F0D-ECCC3D0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Menu chính: chọn mode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A41B6-D881-451F-A7D0-00E0F4D5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Gameplay: board + nút điều khiển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6ACC9-8F9F-477D-A4C9-A4BB7ED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124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7AD08-A077-4902-B3E1-340E007B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Log JSON mỗi ván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D09FC-CB01-4F66-8B9B-9008B0A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571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B1441-BA6C-4FA4-9763-A6C74E12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228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{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"winner": 1,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"mode": "...",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"history": [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  {"move": [r,c],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   "player": 1,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   "source": "human"}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  ]</a:t>
            </a:r>
          </a:p>
          <a:p xmlns:a="http://schemas.openxmlformats.org/drawingml/2006/main">
            <a:pPr>
              <a:buNone/>
              <a:defRPr sz="1275">
                <a:solidFill>
                  <a:srgbClr val="E5E7EB"/>
                </a:solidFill>
              </a:defRPr>
            </a:pPr>
            <a:r>
              <a:rPr sz="127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39876-A7E0-4023-B861-642C6AF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Menu: PvP Minimax, PvP Collect Data, PvP Trained CNN.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Gameplay: vẽ board, quân cờ, last move, warning/loading message.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Kết quả: win/lose/draw và các nút replay/menu/exit.</a:t>
            </a:r>
          </a:p>
          <a:p xmlns:a="http://schemas.openxmlformats.org/drawingml/2006/main">
            <a:pPr>
              <a:buNone/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- Logging dữ liệu là đầu vào trực tiếp cho supervised.py.</a:t>
            </a:r>
          </a:p>
        </p:txBody>
      </p:sp>
    </p:spTree>
    <p:extLst>
      <p:ext uri="{BB962C8B-B14F-4D97-AF65-F5344CB8AC3E}">
        <p14:creationId xmlns:p14="http://schemas.microsoft.com/office/powerpoint/2010/main" val="4106121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6D1F4-BC71-4AEA-B208-2B939C3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84A27"/>
                </a:solidFill>
              </a:defRPr>
            </a:pPr>
            <a:r>
              <a:rPr sz="825" b="1">
                <a:solidFill>
                  <a:srgbClr val="E84A27"/>
                </a:solidFill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67F8F-4F92-43A6-BE3A-A6530CE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Hạn chế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4051B-FAD7-48BE-9BD9-1E1F72E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"/>
            <a:ext cx="3143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Người trình bày: Phạm Trà Minh Nhật - N23DCCN179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A080-477A-4D0D-9971-76D078BF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7"/>
          </a:solidFill>
          <a:ln xmlns:a="http://schemas.openxmlformats.org/drawingml/2006/main" w="0">
            <a:solidFill>
              <a:srgbClr val="E84A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EA6A1-4D30-456F-B0F2-BFFE19C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Nhập môn Trí tuệ nhân tạo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AEC45-8922-4D62-BD36-307A90C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2D292-A72B-41C2-9995-21F9C81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289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FE71C-EEB0-46E6-BCB2-2B43FA75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Đã hoàn thành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E9986-0AF2-4173-AEEB-B505F914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9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Game Caro Pygame, Minimax depth 3, CNN policy, train pipeline, model và test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F6004-3ED4-4BEE-B99D-AF9E8A4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30289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ED777-6334-4783-87F5-5DEF9159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Hạn chế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B0D13-51BA-4765-9E3C-C118482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49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CNN cần thêm dữ liệu và benchmark dài hạn; supervised chỉ học từ nhãn có sẵn.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21D24-C7F0-4A9F-BA2F-A5CF4B96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0289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1AE9D-6761-4704-B6D9-C794EAD8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Phát triển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F28C4-50F4-4708-9D8E-61BE470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49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Thêm self-play, Elo benchmark, dashboard history và hybrid CNN + Minimax.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0DB00-C6C5-4B38-AA7E-876E9DA0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84A27"/>
                </a:solidFill>
              </a:defRPr>
            </a:pPr>
            <a:r>
              <a:rPr sz="1875" b="1">
                <a:solidFill>
                  <a:srgbClr val="E84A27"/>
                </a:solidFill>
              </a:rPr>
              <a:t>Thông điệp chính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FFEA-773B-4AD3-8684-9EED9CE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Minimax giúp AI suy luận đối kháng rõ ràng; CNN giúp dự án có khả năng học từ dữ liệu và mở rộng khi log tăng lên.</a:t>
            </a:r>
          </a:p>
        </p:txBody>
      </p:sp>
    </p:spTree>
    <p:extLst>
      <p:ext uri="{BB962C8B-B14F-4D97-AF65-F5344CB8AC3E}">
        <p14:creationId xmlns:p14="http://schemas.microsoft.com/office/powerpoint/2010/main" val="145537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2026-06-27T02:49:35.7610000Z</dcterms:created>
  <dcterms:modified xsi:type="dcterms:W3CDTF">2026-06-27T02:49:35.7610000Z</dcterms:modified>
</coreProperties>
</file>